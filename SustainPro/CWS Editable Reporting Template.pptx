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10A64-1784-B736-7C16-95F1AA5352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A48393-700D-568F-5105-341754FC13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7157BD-1FFD-B5B4-85DB-7AB4B76E0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89825-A60A-4BF6-8651-41147ED14F56}" type="datetimeFigureOut">
              <a:rPr lang="en-SG" smtClean="0"/>
              <a:t>22/04/2026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F42701-170D-9ED4-5D27-0DED9DED0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C84A27-1121-19D6-82B7-3730359C1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CC502-2D78-4247-BF2E-A9EC6A8B6A5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51149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AA020-FF58-6300-A574-4EC7C23AD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F9A18-4CA5-DF3F-688B-90F21375F0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69EC4-9126-C34C-7186-AB9F366BF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89825-A60A-4BF6-8651-41147ED14F56}" type="datetimeFigureOut">
              <a:rPr lang="en-SG" smtClean="0"/>
              <a:t>22/04/2026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B66D59-2A9D-6E92-D2D8-E39417CF8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C90F8F-0730-1A49-A094-30FC4EC05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CC502-2D78-4247-BF2E-A9EC6A8B6A5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72981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10DEA-355B-F3EC-327C-8F0990969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E64C5D-2B65-5D80-D44F-77D0A949F7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C36BE4-2F68-02A2-FA2D-B4A48023A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89825-A60A-4BF6-8651-41147ED14F56}" type="datetimeFigureOut">
              <a:rPr lang="en-SG" smtClean="0"/>
              <a:t>22/04/2026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B3363E-0920-7535-4264-2AA17ABC7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F3DEAC-32DA-CEB6-6E5B-A980C5ACE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CC502-2D78-4247-BF2E-A9EC6A8B6A5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58669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2FE1A-03A1-903F-3217-1E48FA16F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E6C89-ACA5-2AE6-F414-7D3C074C01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72A548-0BC3-5BDF-FAE3-85E2B4AA05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23BD33-B8AF-427D-2D48-8B62BF9BD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89825-A60A-4BF6-8651-41147ED14F56}" type="datetimeFigureOut">
              <a:rPr lang="en-SG" smtClean="0"/>
              <a:t>22/04/2026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C62A4D-A2C1-65FD-52FC-C1E88BD33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42D558-65FF-DCC4-C3A7-F9AD5F01A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CC502-2D78-4247-BF2E-A9EC6A8B6A5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29187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65381-EDB8-8EC6-965C-7ED90C4C9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3399AE-6D04-C51E-51E3-3624973C37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A3D852-6306-7E99-D88B-0737006559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159CFA-C7D8-214D-CA9A-396BC35B91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9B17A4-F9AB-68E3-E2A4-DD18FF6D80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8B82C2-7A44-7085-E005-C6B97F595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89825-A60A-4BF6-8651-41147ED14F56}" type="datetimeFigureOut">
              <a:rPr lang="en-SG" smtClean="0"/>
              <a:t>22/04/2026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B86423-237C-7829-3C9D-210B2318E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30F793-6CA6-6F85-979D-23D453549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CC502-2D78-4247-BF2E-A9EC6A8B6A5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36016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2A439-B51E-C1CA-AB47-95F2C8616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7D69BB-D0F8-A8BB-60AB-9662DDF89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89825-A60A-4BF6-8651-41147ED14F56}" type="datetimeFigureOut">
              <a:rPr lang="en-SG" smtClean="0"/>
              <a:t>22/04/2026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C31F08-D020-92C7-A705-957F2A4CF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E1F024-48D3-8184-E258-C2B261C21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CC502-2D78-4247-BF2E-A9EC6A8B6A5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68423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D4BE53-6791-F28A-ED09-8A6E317C5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89825-A60A-4BF6-8651-41147ED14F56}" type="datetimeFigureOut">
              <a:rPr lang="en-SG" smtClean="0"/>
              <a:t>22/04/2026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52D404-0E09-FE5A-43AB-3AD32F6CC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AC0362-D2FA-ADE2-D663-E9E929E2C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CC502-2D78-4247-BF2E-A9EC6A8B6A5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24234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18990-CC3C-43B0-2E2A-74190EE7C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EEA84-5592-52C3-9AE3-2D3E3208BA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FD2034-FC74-E92B-1B44-59238AB040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D61957-7BAA-90F2-99B8-A06A3D6F0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89825-A60A-4BF6-8651-41147ED14F56}" type="datetimeFigureOut">
              <a:rPr lang="en-SG" smtClean="0"/>
              <a:t>22/04/2026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73FFA8-9E64-2E62-41EA-D9E4795CA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82D07F-D220-CC58-7216-4BF724E58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CC502-2D78-4247-BF2E-A9EC6A8B6A5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73864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D3F4C-88DF-33E1-25DC-1BEF395EB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22E953-ED26-86FB-D9E7-D89BC79491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81EF20-2460-697E-7224-F754A08306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A17507-1D11-62B0-2E64-814759A19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89825-A60A-4BF6-8651-41147ED14F56}" type="datetimeFigureOut">
              <a:rPr lang="en-SG" smtClean="0"/>
              <a:t>22/04/2026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3F64F-C7DF-ACDE-CE7C-0FE56F686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06769B-703E-9E79-F3FD-8795E4E50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CC502-2D78-4247-BF2E-A9EC6A8B6A5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97186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57C4F-A032-E0AC-26F0-F0EE76086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702F13-602B-716E-5DF1-68C7FD7FD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68661D-6823-B969-545C-050A3C340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89825-A60A-4BF6-8651-41147ED14F56}" type="datetimeFigureOut">
              <a:rPr lang="en-SG" smtClean="0"/>
              <a:t>22/04/2026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E69548-652A-BA22-DC7D-49A9E0BDE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198D0C-03F9-B6B8-4170-2597D1A79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CC502-2D78-4247-BF2E-A9EC6A8B6A5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0112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3C13F1-29CE-F2E0-902A-AA0E56F3D2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AE1E6B-03B7-6F55-F5BA-A14A9F2A55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6743F4-809B-6434-C283-202E4C632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89825-A60A-4BF6-8651-41147ED14F56}" type="datetimeFigureOut">
              <a:rPr lang="en-SG" smtClean="0"/>
              <a:t>22/04/2026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CECB80-F07B-2592-807F-820064F86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14BE1-78F7-0B36-F6AF-9489C7B38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CC502-2D78-4247-BF2E-A9EC6A8B6A5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78459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70E035-63AA-25CA-AF10-4713BBAE4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0ACAD6-8AF1-41DE-1150-81BAC7A5DA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32D98F-B88E-50CC-BABD-256F29B947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C89825-A60A-4BF6-8651-41147ED14F56}" type="datetimeFigureOut">
              <a:rPr lang="en-SG" smtClean="0"/>
              <a:t>22/04/2026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D996B9-C316-E73D-F637-B945869713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6B0DA-54A1-D099-3DBB-45453C797F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CCC502-2D78-4247-BF2E-A9EC6A8B6A5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30485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B6C84C3-47B4-1D04-8DB0-CAAA58627CA2}"/>
              </a:ext>
            </a:extLst>
          </p:cNvPr>
          <p:cNvSpPr txBox="1"/>
          <p:nvPr/>
        </p:nvSpPr>
        <p:spPr>
          <a:xfrm>
            <a:off x="166253" y="214746"/>
            <a:ext cx="83265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SG" dirty="0"/>
              <a:t>Create a separate tab for ‘Reporting Template Builder”</a:t>
            </a:r>
          </a:p>
          <a:p>
            <a:r>
              <a:rPr lang="en-SG" dirty="0"/>
              <a:t>- Only can be built after generating GRI report of the respective BUs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EF1264-F2CF-1FF7-BC9E-18F4A57DBE9A}"/>
              </a:ext>
            </a:extLst>
          </p:cNvPr>
          <p:cNvSpPr txBox="1"/>
          <p:nvPr/>
        </p:nvSpPr>
        <p:spPr>
          <a:xfrm>
            <a:off x="166253" y="1059873"/>
            <a:ext cx="8326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2. The below table will be auto created 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6581641-726D-78BD-423A-28EC36CAF6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1631385"/>
              </p:ext>
            </p:extLst>
          </p:nvPr>
        </p:nvGraphicFramePr>
        <p:xfrm>
          <a:off x="272024" y="1517696"/>
          <a:ext cx="11067696" cy="1295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43187">
                  <a:extLst>
                    <a:ext uri="{9D8B030D-6E8A-4147-A177-3AD203B41FA5}">
                      <a16:colId xmlns:a16="http://schemas.microsoft.com/office/drawing/2014/main" val="3857709256"/>
                    </a:ext>
                  </a:extLst>
                </a:gridCol>
                <a:gridCol w="1615086">
                  <a:extLst>
                    <a:ext uri="{9D8B030D-6E8A-4147-A177-3AD203B41FA5}">
                      <a16:colId xmlns:a16="http://schemas.microsoft.com/office/drawing/2014/main" val="3067856461"/>
                    </a:ext>
                  </a:extLst>
                </a:gridCol>
                <a:gridCol w="1612490">
                  <a:extLst>
                    <a:ext uri="{9D8B030D-6E8A-4147-A177-3AD203B41FA5}">
                      <a16:colId xmlns:a16="http://schemas.microsoft.com/office/drawing/2014/main" val="779428218"/>
                    </a:ext>
                  </a:extLst>
                </a:gridCol>
                <a:gridCol w="3296933">
                  <a:extLst>
                    <a:ext uri="{9D8B030D-6E8A-4147-A177-3AD203B41FA5}">
                      <a16:colId xmlns:a16="http://schemas.microsoft.com/office/drawing/2014/main" val="261302526"/>
                    </a:ext>
                  </a:extLst>
                </a:gridCol>
              </a:tblGrid>
              <a:tr h="251715">
                <a:tc gridSpan="2">
                  <a:txBody>
                    <a:bodyPr/>
                    <a:lstStyle/>
                    <a:p>
                      <a:pPr algn="ctr"/>
                      <a:r>
                        <a:rPr lang="en-SG" sz="1100" dirty="0"/>
                        <a:t>XXX Report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S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G" sz="1100" dirty="0"/>
                        <a:t>Example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G" sz="1100" dirty="0"/>
                        <a:t>Free text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8106282"/>
                  </a:ext>
                </a:extLst>
              </a:tr>
              <a:tr h="251715">
                <a:tc>
                  <a:txBody>
                    <a:bodyPr/>
                    <a:lstStyle/>
                    <a:p>
                      <a:r>
                        <a:rPr lang="en-SG" sz="1100" dirty="0"/>
                        <a:t>Reporting Organization 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G" sz="1100" dirty="0"/>
                        <a:t> xxx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G" sz="1100" dirty="0"/>
                        <a:t>ABC Group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SG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Free text</a:t>
                      </a:r>
                      <a:endParaRPr kumimoji="0" lang="en-SG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9047924"/>
                  </a:ext>
                </a:extLst>
              </a:tr>
              <a:tr h="251715">
                <a:tc>
                  <a:txBody>
                    <a:bodyPr/>
                    <a:lstStyle/>
                    <a:p>
                      <a:r>
                        <a:rPr lang="en-SG" sz="1100" dirty="0"/>
                        <a:t>Person/Entity responsible for the report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G" sz="1100" dirty="0" err="1"/>
                        <a:t>Xxx</a:t>
                      </a:r>
                      <a:endParaRPr lang="en-SG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G" sz="1100" dirty="0"/>
                        <a:t>xxx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SG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Free text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1353026"/>
                  </a:ext>
                </a:extLst>
              </a:tr>
              <a:tr h="251715">
                <a:tc>
                  <a:txBody>
                    <a:bodyPr/>
                    <a:lstStyle/>
                    <a:p>
                      <a:r>
                        <a:rPr lang="en-SG" sz="1100" dirty="0"/>
                        <a:t>Business Unit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G" sz="1100" dirty="0" err="1"/>
                        <a:t>Xxx</a:t>
                      </a:r>
                      <a:endParaRPr lang="en-SG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G" sz="1100" dirty="0"/>
                        <a:t>BU1, BU2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G" sz="1100" dirty="0"/>
                        <a:t>Drop down all BUs and allow </a:t>
                      </a:r>
                      <a:r>
                        <a:rPr lang="en-SG" sz="1100" dirty="0" err="1"/>
                        <a:t>multiselection</a:t>
                      </a:r>
                      <a:endParaRPr lang="en-SG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0219218"/>
                  </a:ext>
                </a:extLst>
              </a:tr>
              <a:tr h="251715">
                <a:tc>
                  <a:txBody>
                    <a:bodyPr/>
                    <a:lstStyle/>
                    <a:p>
                      <a:r>
                        <a:rPr lang="en-SG" sz="1100" dirty="0"/>
                        <a:t>Reporting 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G" sz="1100" dirty="0" err="1"/>
                        <a:t>Xxx</a:t>
                      </a:r>
                      <a:endParaRPr lang="en-SG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G" sz="1100" dirty="0"/>
                        <a:t>2024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100" dirty="0"/>
                        <a:t>Drop down 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685400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95EBB19-860B-F79C-606F-612F2261CD8C}"/>
              </a:ext>
            </a:extLst>
          </p:cNvPr>
          <p:cNvSpPr txBox="1"/>
          <p:nvPr/>
        </p:nvSpPr>
        <p:spPr>
          <a:xfrm>
            <a:off x="166252" y="3039509"/>
            <a:ext cx="8326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3. Drop down option (Energy, Carbon, Water or Waste)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AFB2F7-89A8-7CA3-A0CA-A4A5B93B5026}"/>
              </a:ext>
            </a:extLst>
          </p:cNvPr>
          <p:cNvSpPr txBox="1"/>
          <p:nvPr/>
        </p:nvSpPr>
        <p:spPr>
          <a:xfrm>
            <a:off x="166251" y="3469715"/>
            <a:ext cx="8326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4. Create table with x number of line items 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7B01A63-BDC5-E43A-906F-17AD1AB645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9080047"/>
              </p:ext>
            </p:extLst>
          </p:nvPr>
        </p:nvGraphicFramePr>
        <p:xfrm>
          <a:off x="272024" y="3899921"/>
          <a:ext cx="6524510" cy="1630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95321">
                  <a:extLst>
                    <a:ext uri="{9D8B030D-6E8A-4147-A177-3AD203B41FA5}">
                      <a16:colId xmlns:a16="http://schemas.microsoft.com/office/drawing/2014/main" val="3067856461"/>
                    </a:ext>
                  </a:extLst>
                </a:gridCol>
                <a:gridCol w="1513274">
                  <a:extLst>
                    <a:ext uri="{9D8B030D-6E8A-4147-A177-3AD203B41FA5}">
                      <a16:colId xmlns:a16="http://schemas.microsoft.com/office/drawing/2014/main" val="779428218"/>
                    </a:ext>
                  </a:extLst>
                </a:gridCol>
                <a:gridCol w="1922654">
                  <a:extLst>
                    <a:ext uri="{9D8B030D-6E8A-4147-A177-3AD203B41FA5}">
                      <a16:colId xmlns:a16="http://schemas.microsoft.com/office/drawing/2014/main" val="261302526"/>
                    </a:ext>
                  </a:extLst>
                </a:gridCol>
                <a:gridCol w="1393261">
                  <a:extLst>
                    <a:ext uri="{9D8B030D-6E8A-4147-A177-3AD203B41FA5}">
                      <a16:colId xmlns:a16="http://schemas.microsoft.com/office/drawing/2014/main" val="2041301990"/>
                    </a:ext>
                  </a:extLst>
                </a:gridCol>
              </a:tblGrid>
              <a:tr h="25171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100" dirty="0"/>
                        <a:t>Numbering (Guide)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G" sz="1100" dirty="0"/>
                        <a:t>[editable text}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G" sz="1100" dirty="0"/>
                        <a:t>Inventory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SG" sz="1100" dirty="0"/>
                        <a:t>Unit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8106282"/>
                  </a:ext>
                </a:extLst>
              </a:tr>
              <a:tr h="251715">
                <a:tc>
                  <a:txBody>
                    <a:bodyPr/>
                    <a:lstStyle/>
                    <a:p>
                      <a:r>
                        <a:rPr lang="en-SG" sz="1100" dirty="0"/>
                        <a:t>[editable text}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SG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[editable text}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SG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(Main category)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SG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SG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9047924"/>
                  </a:ext>
                </a:extLst>
              </a:tr>
              <a:tr h="25171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SG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[editable text}</a:t>
                      </a:r>
                      <a:endParaRPr kumimoji="0" lang="en-SG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SG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[editable text}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SG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(Subcategory)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SG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SG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1353026"/>
                  </a:ext>
                </a:extLst>
              </a:tr>
              <a:tr h="25171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SG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[editable text}</a:t>
                      </a:r>
                      <a:endParaRPr kumimoji="0" lang="en-SG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SG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[editable text}</a:t>
                      </a:r>
                      <a:endParaRPr kumimoji="0" lang="en-SG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0" lang="en-SG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1000</a:t>
                      </a:r>
                      <a:endParaRPr lang="en-SG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SG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0219218"/>
                  </a:ext>
                </a:extLst>
              </a:tr>
              <a:tr h="25171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SG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[editable text}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SG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[editable text}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G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G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685400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ACAAB38-CF4A-ED5D-1932-2DA899215B24}"/>
              </a:ext>
            </a:extLst>
          </p:cNvPr>
          <p:cNvSpPr txBox="1"/>
          <p:nvPr/>
        </p:nvSpPr>
        <p:spPr>
          <a:xfrm>
            <a:off x="166251" y="6089256"/>
            <a:ext cx="8326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5. Options to export report as Word, Excel or PDF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ADDAFD-ABC3-E9E3-3520-68A97D65496F}"/>
              </a:ext>
            </a:extLst>
          </p:cNvPr>
          <p:cNvSpPr txBox="1"/>
          <p:nvPr/>
        </p:nvSpPr>
        <p:spPr>
          <a:xfrm>
            <a:off x="3294247" y="5609874"/>
            <a:ext cx="20705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600" dirty="0"/>
              <a:t>Dropdown to multiselect activities 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66C92A0-D1E7-5137-397D-EB04421AF044}"/>
              </a:ext>
            </a:extLst>
          </p:cNvPr>
          <p:cNvCxnSpPr/>
          <p:nvPr/>
        </p:nvCxnSpPr>
        <p:spPr>
          <a:xfrm flipV="1">
            <a:off x="4562168" y="5063613"/>
            <a:ext cx="0" cy="6096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5391478-C9F2-A532-A274-9F884C65B1C4}"/>
              </a:ext>
            </a:extLst>
          </p:cNvPr>
          <p:cNvSpPr txBox="1"/>
          <p:nvPr/>
        </p:nvSpPr>
        <p:spPr>
          <a:xfrm>
            <a:off x="6925007" y="4548994"/>
            <a:ext cx="38546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600" dirty="0"/>
              <a:t>How to include “+” and “-” in the operation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AEFCC5-E2DD-DCF8-AF15-4B9DA09DE830}"/>
              </a:ext>
            </a:extLst>
          </p:cNvPr>
          <p:cNvSpPr txBox="1"/>
          <p:nvPr/>
        </p:nvSpPr>
        <p:spPr>
          <a:xfrm>
            <a:off x="166251" y="6458588"/>
            <a:ext cx="8326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6. Options to save and name the template </a:t>
            </a:r>
          </a:p>
        </p:txBody>
      </p:sp>
    </p:spTree>
    <p:extLst>
      <p:ext uri="{BB962C8B-B14F-4D97-AF65-F5344CB8AC3E}">
        <p14:creationId xmlns:p14="http://schemas.microsoft.com/office/powerpoint/2010/main" val="19647313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187</Words>
  <Application>Microsoft Office PowerPoint</Application>
  <PresentationFormat>Widescreen</PresentationFormat>
  <Paragraphs>45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Chang Chia Chien</dc:creator>
  <cp:lastModifiedBy>Chang Chia Chien</cp:lastModifiedBy>
  <cp:revision>4</cp:revision>
  <dcterms:created xsi:type="dcterms:W3CDTF">2026-04-22T02:20:38Z</dcterms:created>
  <dcterms:modified xsi:type="dcterms:W3CDTF">2026-04-22T02:35:58Z</dcterms:modified>
</cp:coreProperties>
</file>